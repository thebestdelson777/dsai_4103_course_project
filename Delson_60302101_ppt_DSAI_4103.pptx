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7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520028"/>
            <a:ext cx="7143750" cy="21034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57250" y="1520028"/>
            <a:ext cx="57150" cy="21034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43000" y="1520028"/>
            <a:ext cx="6858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Chocolate Sales Analytics and Revenue Prediction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143000" y="2754446"/>
            <a:ext cx="68580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57B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DSAI 4103 Business Analytics Project
End-to-End Business Analytics &amp; ML Pipeline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143000" y="3428805"/>
            <a:ext cx="6858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Delson Fernandes | Student ID: 60302101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Overview: Analyzing Performance &amp; Predicting Future Revenue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71500" y="15430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chocolate sales data spanning 2023–2024.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1717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Goal: Understand sales performance and predict future revenue.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8003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data analysis, machine learning, explainability, and deployment preparation.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4290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support better business decisions using data-driven insights.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15287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21574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71500" y="27860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71500" y="34147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868466" y="2814638"/>
            <a:ext cx="3436144" cy="8858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Project Overview Screenshot Here</a:t>
            </a:r>
            <a:endParaRPr lang="en-US" sz="1193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ACAD3C-53C6-BF56-3BE5-AD4126AB5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465" y="1736150"/>
            <a:ext cx="3561159" cy="2374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Problem and Objectives: Identifying Strategic Drivers</a:t>
            </a:r>
            <a:endParaRPr lang="en-US" sz="2016" dirty="0"/>
          </a:p>
        </p:txBody>
      </p:sp>
      <p:sp>
        <p:nvSpPr>
          <p:cNvPr id="7" name="Text 4"/>
          <p:cNvSpPr/>
          <p:nvPr/>
        </p:nvSpPr>
        <p:spPr>
          <a:xfrm>
            <a:off x="571500" y="2371725"/>
            <a:ext cx="3971925" cy="10858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Business Problem/Objectives Screenshot Here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972050" y="12001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Problem: Identify what drives chocolate sales and revenue for pricing and promotions.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972050" y="1828800"/>
            <a:ext cx="3600450" cy="23431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Objectives: 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972050" y="11858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972050" y="18145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14350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customer, product, and store performance.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143500" y="268605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key factors affecting revenue.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143500" y="3086100"/>
            <a:ext cx="342900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high-accuracy revenue prediction model.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143500" y="3714750"/>
            <a:ext cx="342900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 results using SHAP and check model fairness.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143500" y="20431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143500" y="26717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143500" y="30718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143500" y="37004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707F34-1FE6-B68C-AF04-1160E29A5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6" y="1287447"/>
            <a:ext cx="4571999" cy="2768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Description: High-Volume Data Source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71500" y="12001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Kaggle Chocolate Sales Dataset 2023–2024.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8288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Structure: 5 integrated CSV files (Sales, Customers, Products, Stores, Calendar).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4574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Scale: Large dataset featuring 1,000,000 sales records.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0861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Dimensions: Includes transaction, customer, product, store, and time data.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11858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18145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71500" y="24431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71500" y="30718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600575" y="2371725"/>
            <a:ext cx="3971925" cy="10858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Dataset Schema or Source Screenshot Here</a:t>
            </a:r>
            <a:endParaRPr lang="en-US" sz="1193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A329C9C-A66E-7831-75D0-5AC0403D2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841" y="1129851"/>
            <a:ext cx="4810268" cy="28837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D0E49F-67CC-19C3-51ED-A574581D35BD}"/>
              </a:ext>
            </a:extLst>
          </p:cNvPr>
          <p:cNvSpPr txBox="1"/>
          <p:nvPr/>
        </p:nvSpPr>
        <p:spPr>
          <a:xfrm>
            <a:off x="742950" y="3714750"/>
            <a:ext cx="3084344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9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 size:</a:t>
            </a:r>
          </a:p>
          <a:p>
            <a:endParaRPr lang="en-US" sz="99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99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* sales: 1,000,000 rows × 11 columns</a:t>
            </a:r>
          </a:p>
          <a:p>
            <a:r>
              <a:rPr lang="en-US" sz="99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* customers: 50,000 rows × 5 columns</a:t>
            </a:r>
          </a:p>
          <a:p>
            <a:r>
              <a:rPr lang="en-US" sz="99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* products: 200 rows × 6 columns</a:t>
            </a:r>
          </a:p>
          <a:p>
            <a:r>
              <a:rPr lang="en-US" sz="99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* stores: 100 rows × 5 columns</a:t>
            </a:r>
          </a:p>
          <a:p>
            <a:r>
              <a:rPr lang="en-US" sz="99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* calendar: 731 rows × 6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Preparation and Feature Engineering: Transforming Raw Data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71500" y="15430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Integration: Merged 5 relational files using IDs and order dates as primary keys.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143125"/>
            <a:ext cx="3600450" cy="82867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Cleaning: 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15287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1288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71500" y="3114675"/>
            <a:ext cx="3600450" cy="14287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Engineering: Created high-value features including: 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42950" y="2371725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Filled missing text values with "Unknown".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42950" y="274320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Filled missing numeric values with the median.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31003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742950" y="23574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742950" y="27289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42950" y="3571875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Group &amp; Weekend Flag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42950" y="394335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 Flag &amp; Discount Band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742950" y="4314825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 Margin calculation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876502" y="2814638"/>
            <a:ext cx="3420070" cy="8858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Data Preparation Screenshot Here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742950" y="35575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742950" y="39290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742950" y="43005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5C55A03-FF57-D4F1-A1A4-E60917114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1455347"/>
            <a:ext cx="4539908" cy="3026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Exploratory Data Analysis: Key Performance Metrics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71500" y="1057275"/>
            <a:ext cx="1746647" cy="664369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1057275"/>
            <a:ext cx="28575" cy="664369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8656" y="1164431"/>
            <a:ext cx="15323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639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25.49M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78656" y="1464469"/>
            <a:ext cx="15323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425303" y="1057275"/>
            <a:ext cx="1746647" cy="664369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25303" y="1057275"/>
            <a:ext cx="28575" cy="664369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32459" y="1164431"/>
            <a:ext cx="15323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639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10.19M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2532459" y="1464469"/>
            <a:ext cx="15323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PROFIT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571500" y="1828800"/>
            <a:ext cx="1746647" cy="664369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1500" y="1828800"/>
            <a:ext cx="28575" cy="664369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656" y="1935956"/>
            <a:ext cx="15323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639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2.99M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678656" y="2235994"/>
            <a:ext cx="15323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QUANTITY SOLD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2425303" y="1828800"/>
            <a:ext cx="1746647" cy="664369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425303" y="1828800"/>
            <a:ext cx="28575" cy="664369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32459" y="1935956"/>
            <a:ext cx="15323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639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2532459" y="2235994"/>
            <a:ext cx="15323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2023-24 TREND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71500" y="2707481"/>
            <a:ext cx="3600450" cy="40719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Categories: Praline, White, and Dark chocolate led sales.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571500" y="3228975"/>
            <a:ext cx="3600450" cy="40719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Brands: Ferrero, Cadbury, and Lindt dominated the market share.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571500" y="3750469"/>
            <a:ext cx="3600450" cy="40719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Demographics: Customers aged 46–60 contributed the highest revenue share.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571500" y="4271963"/>
            <a:ext cx="3600450" cy="40719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performance remained consistent across both fiscal years.</a:t>
            </a:r>
            <a:endParaRPr lang="en-US" sz="936" dirty="0"/>
          </a:p>
        </p:txBody>
      </p:sp>
      <p:sp>
        <p:nvSpPr>
          <p:cNvPr id="27" name="Text 24"/>
          <p:cNvSpPr/>
          <p:nvPr/>
        </p:nvSpPr>
        <p:spPr>
          <a:xfrm>
            <a:off x="571500" y="2678906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571500" y="3200400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571500" y="3721894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571500" y="4243388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4930973" y="2328863"/>
            <a:ext cx="3311128" cy="8858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EDA Dashboard Screenshot Here</a:t>
            </a:r>
            <a:endParaRPr lang="en-US" sz="1193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E96860-2163-AFDD-9BF0-D5096E7D2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73" y="851728"/>
            <a:ext cx="3211710" cy="205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E846580-CFA2-649C-27AB-4129E4958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981" y="3161164"/>
            <a:ext cx="3008291" cy="185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Development: Building the Predictive Engine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71500" y="1200150"/>
            <a:ext cx="360045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Variable: Revenue (order-level prediction).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6002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Engineering: Final dataset used 26 input features after removing leakage.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228850"/>
            <a:ext cx="3600450" cy="8572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Preprocessing Pipeline: 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11858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71500" y="15859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22145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32575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Selection: Random Forest Regressor for robust performance.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42950" y="245745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StandardScaler for numeric data.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42950" y="285750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OneHotEncoder for categorical data.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32432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600575" y="2371725"/>
            <a:ext cx="3971925" cy="10858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Model Development / Training Screenshot Here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42950" y="24431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742950" y="28432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D9D1E-ECF2-02B6-9B1B-E5D09C4BD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1344"/>
            <a:ext cx="4416624" cy="189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Results and SHAP Explainability: High-Accuracy Predictions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71500" y="1543050"/>
            <a:ext cx="3600450" cy="857250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1543050"/>
            <a:ext cx="28575" cy="85725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4375" y="1685925"/>
            <a:ext cx="331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RMSE: 2.6596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14375" y="1971675"/>
            <a:ext cx="331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R² Score: 0.9736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5717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performed exceptionally well for order-level revenue prediction.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31718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 was utilized to explain individual and global model predictions.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3771900"/>
            <a:ext cx="3600450" cy="12001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Important Features: 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25574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71500" y="31575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71500" y="37576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0" y="4900274"/>
            <a:ext cx="5344294" cy="20633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 confirmed that quantity and unit price are the strongest drivers of revenue.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42950" y="400050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Quantity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742950" y="4371975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 Price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742950" y="474345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71500" y="51006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6091391" y="2604622"/>
            <a:ext cx="2742894" cy="94763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Model Results / SHAP Summary Plot Here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742950" y="39862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742950" y="43576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742950" y="47291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DF26585-50A9-16B9-AAE1-3FC31AFF79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808"/>
          <a:stretch>
            <a:fillRect/>
          </a:stretch>
        </p:blipFill>
        <p:spPr bwMode="auto">
          <a:xfrm>
            <a:off x="5627517" y="1485570"/>
            <a:ext cx="3034920" cy="361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Analysis and Model Fairness: Ensuring Equitable Predictions</a:t>
            </a:r>
            <a:endParaRPr lang="en-US" sz="2016" dirty="0"/>
          </a:p>
        </p:txBody>
      </p:sp>
      <p:sp>
        <p:nvSpPr>
          <p:cNvPr id="8" name="Text 5"/>
          <p:cNvSpPr/>
          <p:nvPr/>
        </p:nvSpPr>
        <p:spPr>
          <a:xfrm>
            <a:off x="4972050" y="15430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Methodology: Evaluated model error (RMSE) across protected groups to ensure fairness.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972050" y="15287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972050" y="21574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143500" y="2187773"/>
            <a:ext cx="14019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 Comparison: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143500" y="2471738"/>
            <a:ext cx="2309552" cy="37504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 RMSE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453052" y="2471738"/>
            <a:ext cx="1119448" cy="37504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57B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2.651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143500" y="2846784"/>
            <a:ext cx="2309552" cy="3786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RMSE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453052" y="2846784"/>
            <a:ext cx="1119448" cy="3786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57B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2.668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972050" y="34004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Consistency: Error rates remained stable across all age groups and store types.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972050" y="4029075"/>
            <a:ext cx="3600450" cy="66864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Conclusion: The model demonstrates no major fairness issues or demographic bias. </a:t>
            </a:r>
            <a:r>
              <a:rPr lang="en-US" sz="99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Differences are minimal, indicating fair model performance</a:t>
            </a:r>
          </a:p>
        </p:txBody>
      </p:sp>
      <p:sp>
        <p:nvSpPr>
          <p:cNvPr id="18" name="Text 15"/>
          <p:cNvSpPr/>
          <p:nvPr/>
        </p:nvSpPr>
        <p:spPr>
          <a:xfrm>
            <a:off x="4972050" y="33861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972050" y="40147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1F393F-02D3-D57E-A1CD-47B5F3097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980" y="1103435"/>
            <a:ext cx="2131961" cy="37804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Preparation: Ready for Integration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71500" y="1200150"/>
            <a:ext cx="3600450" cy="8572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Serialization: Saved trained components as: 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1858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42875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i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chocolate_sales_preprocessor.pkl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42950" y="1828800"/>
            <a:ext cx="3429000" cy="22860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i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chocolate_sales_model.pkl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2145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42950" y="2244923"/>
            <a:ext cx="11644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Scoring Function: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907381" y="2244923"/>
            <a:ext cx="9501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a robust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42950" y="2475309"/>
            <a:ext cx="1457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predict_revenue()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66567" y="2716362"/>
            <a:ext cx="2945011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 for real-time inference.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3087886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Validation: Successfully tested the function on sample rows, ensuring production readiness.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3716536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is now prepared for seamless deployment and reuse in business applications.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42950" y="14144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742950" y="18145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71500" y="307359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71500" y="370224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39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193" dirty="0"/>
          </a:p>
        </p:txBody>
      </p:sp>
      <p:sp>
        <p:nvSpPr>
          <p:cNvPr id="23" name="Shape 2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ANALYTICS PIPELINE COMPLETE</a:t>
            </a:r>
            <a:endParaRPr lang="en-US" sz="987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6DFC376-4F8A-6C54-5025-0AB94FB80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486" y="3141415"/>
            <a:ext cx="4873571" cy="13398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9082ACD-9067-3516-B262-88ED1FFEF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867" y="1116858"/>
            <a:ext cx="4873571" cy="1750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617390"/>
            <a:ext cx="6429375" cy="190872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57250" y="1617390"/>
            <a:ext cx="57150" cy="190872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43000" y="1617390"/>
            <a:ext cx="614362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4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Power BI Sales Dashboard Overview</a:t>
            </a:r>
            <a:endParaRPr kumimoji="0" lang="en-US" sz="329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3000" y="2886075"/>
            <a:ext cx="61436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2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Guide to Data-Driven Business Insights</a:t>
            </a:r>
            <a:endParaRPr kumimoji="0" lang="en-US" sz="16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3" y="4961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8229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822927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Building the Foundation — Data Model &amp; Key Measures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680177"/>
            <a:ext cx="3786188" cy="6858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an Age Group column from customer age to segment customers into meaningful demographic groups.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537427"/>
            <a:ext cx="3786188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age bands: 18–25, 26–35, 36–45, 46–60, and 60+ for granular demographic analysis.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166077"/>
            <a:ext cx="3786188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the data model with Sales as the central fact table.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794727"/>
            <a:ext cx="3786188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 Sales with Products, Customers, Stores, and Calendar dimension tables.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4423377"/>
            <a:ext cx="3786188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All relationships set as Many-to-One with Single-Direction Filtering for accurate, reliable analysis.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1665889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2523139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3151789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3780439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4409089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86313" y="1680177"/>
            <a:ext cx="1436173" cy="410766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86313" y="2062367"/>
            <a:ext cx="1436173" cy="28575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86313" y="1680177"/>
            <a:ext cx="1436173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Measure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22485" y="1680177"/>
            <a:ext cx="2350015" cy="410766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22485" y="2062367"/>
            <a:ext cx="2350015" cy="28575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22485" y="1680177"/>
            <a:ext cx="2350015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900613" y="2190955"/>
            <a:ext cx="9626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22485" y="2076655"/>
            <a:ext cx="2350015" cy="426839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Tracks overall sales income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86313" y="2503494"/>
            <a:ext cx="3786188" cy="430411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900613" y="2621366"/>
            <a:ext cx="750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Profit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22485" y="2503494"/>
            <a:ext cx="2350015" cy="43041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net business gain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900613" y="3051777"/>
            <a:ext cx="964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Quantity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22485" y="2933905"/>
            <a:ext cx="2350015" cy="43041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Counts units sold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786313" y="3364316"/>
            <a:ext cx="3786188" cy="625078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900613" y="3482187"/>
            <a:ext cx="99119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Order Value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22485" y="3364316"/>
            <a:ext cx="2350015" cy="6250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Reveals per-transaction performance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At-a-Glance Business Performance — Revenue, Profit &amp; Top Brands</a:t>
            </a:r>
            <a:endParaRPr kumimoji="0" lang="en-US" sz="201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4001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KPI Cards display Total Revenue, Total Profit, Total Quantity, and Average Order Value at a glance.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0288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Bar charts compare revenue performance across brands and product categories.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6574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Year and Gender slicers enable quick, targeted filtering for specific segments.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2861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Empowers leadership to instantly identify top-performing brands and categories.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9147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as the executive entry point for high-level business health monitoring.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13858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20145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26431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32718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1500" y="39004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23817" y="2671763"/>
            <a:ext cx="3525441" cy="8858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Page 1 Dashboard Screenshot Here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090509-6158-2DD1-BE87-BF2EB2154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897" y="1380392"/>
            <a:ext cx="4652155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Drilling Into Profit — Which Brands and Categories Drive Margins?</a:t>
            </a:r>
            <a:endParaRPr kumimoji="0" lang="en-US" sz="201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4742" y="2671763"/>
            <a:ext cx="3525441" cy="7424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PLACEOLDER]
 Insert Page 2 Dashboard Screenshot Here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72050" y="14001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Treemap visualizes profit contribution by brand — larger blocks indicate higher profit share.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72050" y="20288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Pie chart breaks down profit distribution by product category.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72050" y="26574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Year comparison chart contrasts profit performance between 2023 and 2024.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72050" y="32861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 slicer enables geographic profit analysis across different markets.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72050" y="39147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management pinpoint which segments are most and least profitable.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72050" y="13858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72050" y="20145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72050" y="26431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72050" y="32718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72050" y="39004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92757A-1BB7-F5BC-BF5F-F0EEF0483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45" y="1224709"/>
            <a:ext cx="4729538" cy="31472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Tracking Sales Over Time — Trends, Patterns &amp; Product Contributions</a:t>
            </a:r>
            <a:endParaRPr kumimoji="0" lang="en-US" sz="201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428750"/>
            <a:ext cx="3600450" cy="68580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Line chart tracks monthly revenue trends, revealing seasonality and growth patterns over time.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286000"/>
            <a:ext cx="3600450" cy="45720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KPI cards keep key sales measures visible throughout exploration.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914650"/>
            <a:ext cx="3600450" cy="45720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Donut chart illustrates each product's revenue contribution to the overall mix.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543300"/>
            <a:ext cx="3600450" cy="45720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type and country slicers support interactive, multi-dimensional filtering.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4171950"/>
            <a:ext cx="3600450" cy="45720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for identifying peak sales periods and understanding product portfolio balance.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1457325"/>
            <a:ext cx="6901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4" b="1" i="0" u="none" strike="noStrike" kern="1200" cap="none" spc="0" normalizeH="0" baseline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kumimoji="0" lang="en-US" sz="7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2314575"/>
            <a:ext cx="6901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4" b="1" i="0" u="none" strike="noStrike" kern="1200" cap="none" spc="0" normalizeH="0" baseline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kumimoji="0" lang="en-US" sz="7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2943225"/>
            <a:ext cx="6901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4" b="1" i="0" u="none" strike="noStrike" kern="1200" cap="none" spc="0" normalizeH="0" baseline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kumimoji="0" lang="en-US" sz="7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3571875"/>
            <a:ext cx="6901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4" b="1" i="0" u="none" strike="noStrike" kern="1200" cap="none" spc="0" normalizeH="0" baseline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kumimoji="0" lang="en-US" sz="7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1500" y="4200525"/>
            <a:ext cx="6901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4" b="1" i="0" u="none" strike="noStrike" kern="1200" cap="none" spc="0" normalizeH="0" baseline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kumimoji="0" lang="en-US" sz="7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23817" y="2671763"/>
            <a:ext cx="3525441" cy="8858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Page 3 Dashboard Screenshot Here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1411E5-1F52-A2B5-93F9-B159F5DCA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109" y="1390493"/>
            <a:ext cx="4833732" cy="32386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Who Buys What — Revenue by Demographics and Product Characteristics</a:t>
            </a:r>
            <a:endParaRPr kumimoji="0" lang="en-US" sz="201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4742" y="2671763"/>
            <a:ext cx="3525441" cy="8858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Page 4 Dashboard Screenshot Here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72050" y="15430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Pie chart reveals revenue split by gender, highlighting purchasing behavior differences.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72050" y="21717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Bar chart compares revenue across Age Groups (18–25, 26–35, 36–45, 46–60, 60+).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72050" y="28003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 chart shows revenue variation by cocoa percentage, linking product attributes to sales.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72050" y="342900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slicer enables product-level deep dives for targeted analysis.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72050" y="4057650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marketing and product teams in tailoring strategies to key customer segments.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72050" y="15287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72050" y="21574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72050" y="27860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72050" y="341471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72050" y="4043363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50AC4C-5926-E22F-1B91-94BCDADA0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41" y="1419644"/>
            <a:ext cx="4698609" cy="30952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Store-Level Insights — Performance by Location and Segment</a:t>
            </a:r>
            <a:endParaRPr kumimoji="0" lang="en-US" sz="201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0572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table lists revenue figures by individual store name for granular location analysis.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6859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and Age Group slicers allow focused, cross-segment comparisons.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31457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Pie chart shows revenue share by product category for selected filters.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2943225"/>
            <a:ext cx="3600450" cy="4572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KPI cards dynamically summarize revenue and profit based on active filter selections.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571875"/>
            <a:ext cx="3600450" cy="6858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regional managers to assess store performance and identify underperforming locations.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10429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16716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23002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292893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1500" y="3557588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23817" y="2328863"/>
            <a:ext cx="3525441" cy="7424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[SCREENSHOT PLACEHOLDER]
 Insert Page 5 Dashboard Screenshot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FAFEF3C-0ADA-DFA5-8F37-3965ACB0F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690" y="1041854"/>
            <a:ext cx="4783015" cy="3059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6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Designed for Exploration — Slicers, Filters &amp; Cross-Visual Interaction</a:t>
            </a:r>
            <a:endParaRPr kumimoji="0" lang="en-US" sz="201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2938" y="1435894"/>
            <a:ext cx="457200" cy="45720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550194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035969"/>
            <a:ext cx="14055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Interactive Slicers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2938" y="2321719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dashboard page is built with interactive slicers so users can filter by year, country, gender, brand, age group, store type, and product.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57563" y="1435894"/>
            <a:ext cx="457200" cy="45720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575" y="1550194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57563" y="2035969"/>
            <a:ext cx="1689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Cross-Visual Filtering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357563" y="2321719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Clicking on any chart element automatically filters all other visuals on the page, enabling seamless data exploration.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072188" y="1435894"/>
            <a:ext cx="457200" cy="45720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488" y="155019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72188" y="2035969"/>
            <a:ext cx="15109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Intuitive Navigation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072188" y="2321719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can easily navigate between different analytical views using page tabs located at the bottom of the Power BI report.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2000250" y="3430339"/>
            <a:ext cx="457200" cy="45720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975" y="3544639"/>
            <a:ext cx="28575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000250" y="4030414"/>
            <a:ext cx="1485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Multi-Role Support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2000250" y="4316164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dashboard is designed to serve multiple roles simultaneously: executives, analysts, regional managers, and marketing teams.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4714875" y="3430339"/>
            <a:ext cx="457200" cy="45720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175" y="3544639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714875" y="4030414"/>
            <a:ext cx="13519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Dynamic Updates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714875" y="4316164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All measures update dynamically based on the active filter context, ensuring real-time, accurate insights for decision-making.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5309" y="1780049"/>
            <a:ext cx="4193381" cy="15834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475309" y="1780049"/>
            <a:ext cx="57150" cy="158340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2789634" y="1780049"/>
            <a:ext cx="3850481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45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Thank You!</a:t>
            </a:r>
            <a:endParaRPr kumimoji="0" lang="en-US" sz="414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89634" y="2580149"/>
            <a:ext cx="3850481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8" b="1" i="0" u="none" strike="noStrike" kern="1200" cap="none" spc="0" normalizeH="0" baseline="0" noProof="0" dirty="0">
                <a:ln>
                  <a:noFill/>
                </a:ln>
                <a:solidFill>
                  <a:srgbClr val="457B9D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Any Questions?</a:t>
            </a:r>
            <a:endParaRPr kumimoji="0" lang="en-US" sz="180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89634" y="3168783"/>
            <a:ext cx="38504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Delson Fernandes | DSAI 4103 Business Analytics Project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1488</Words>
  <Application>Microsoft Office PowerPoint</Application>
  <PresentationFormat>On-screen Show (16:9)</PresentationFormat>
  <Paragraphs>258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monospace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Sarita Fernandes</cp:lastModifiedBy>
  <cp:revision>3</cp:revision>
  <dcterms:created xsi:type="dcterms:W3CDTF">2026-04-05T20:26:17Z</dcterms:created>
  <dcterms:modified xsi:type="dcterms:W3CDTF">2026-04-05T21:34:25Z</dcterms:modified>
</cp:coreProperties>
</file>